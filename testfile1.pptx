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18"/>
  </p:notesMasterIdLst>
  <p:handoutMasterIdLst>
    <p:handoutMasterId r:id="rId19"/>
  </p:handoutMasterIdLst>
  <p:sldIdLst>
    <p:sldId id="289" r:id="rId5"/>
    <p:sldId id="288" r:id="rId6"/>
    <p:sldId id="276" r:id="rId7"/>
    <p:sldId id="283" r:id="rId8"/>
    <p:sldId id="261" r:id="rId9"/>
    <p:sldId id="257" r:id="rId10"/>
    <p:sldId id="264" r:id="rId11"/>
    <p:sldId id="265" r:id="rId12"/>
    <p:sldId id="263" r:id="rId13"/>
    <p:sldId id="268" r:id="rId14"/>
    <p:sldId id="266" r:id="rId15"/>
    <p:sldId id="267" r:id="rId16"/>
    <p:sldId id="26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57" autoAdjust="0"/>
    <p:restoredTop sz="94694" autoAdjust="0"/>
  </p:normalViewPr>
  <p:slideViewPr>
    <p:cSldViewPr snapToGrid="0">
      <p:cViewPr varScale="1">
        <p:scale>
          <a:sx n="194" d="100"/>
          <a:sy n="194" d="100"/>
        </p:scale>
        <p:origin x="174" y="51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7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69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83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98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733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806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4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05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528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37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23740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>
            <a:extLst>
              <a:ext uri="{FF2B5EF4-FFF2-40B4-BE49-F238E27FC236}">
                <a16:creationId xmlns:a16="http://schemas.microsoft.com/office/drawing/2014/main" id="{C4293765-78A6-5206-26C2-E8817B283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470792" cy="6858000"/>
          </a:xfrm>
          <a:custGeom>
            <a:avLst/>
            <a:gdLst>
              <a:gd name="connsiteX0" fmla="*/ 0 w 7470792"/>
              <a:gd name="connsiteY0" fmla="*/ 0 h 6858000"/>
              <a:gd name="connsiteX1" fmla="*/ 7470792 w 7470792"/>
              <a:gd name="connsiteY1" fmla="*/ 0 h 6858000"/>
              <a:gd name="connsiteX2" fmla="*/ 5633197 w 7470792"/>
              <a:gd name="connsiteY2" fmla="*/ 6858000 h 6858000"/>
              <a:gd name="connsiteX3" fmla="*/ 0 w 74707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792" h="6858000">
                <a:moveTo>
                  <a:pt x="0" y="0"/>
                </a:moveTo>
                <a:lnTo>
                  <a:pt x="7470792" y="0"/>
                </a:lnTo>
                <a:lnTo>
                  <a:pt x="56331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n>
                <a:noFill/>
              </a:ln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4E351F-7451-86A3-5271-0D00B9EFA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860223-A40E-30ED-6832-0825A930B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B6907E-F17B-783E-D454-DFC62D09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B12211-7E94-9534-6F2D-2AFD2EBE3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580245-E985-EC3F-9385-D0F517F0C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5A82A3-E3DF-978F-4BD7-10E0F1075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DC40AE-D1CB-7535-22E2-E6D910FB8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685800"/>
            <a:ext cx="9144000" cy="3136738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78800"/>
            <a:ext cx="9144000" cy="1965960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355955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566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D9208B-0FD2-A7E3-5202-0F18392AE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4010E2-9C6F-C582-1E3A-F5D43D0FF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D2B8AF-94DE-C211-EAE7-0971C111B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47A2AC-F284-077E-9A14-EB7D1DE62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E91F1F-5151-2442-2B89-CE0AB1178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BD82AC-3C5B-819E-E0FF-157D74B8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299648-2E6E-FA0D-85E4-8884BE34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7BD0263-5D42-E696-F170-1F9CF5FF2A7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38199" y="2078963"/>
            <a:ext cx="3435628" cy="4067492"/>
          </a:xfrm>
        </p:spPr>
        <p:txBody>
          <a:bodyPr>
            <a:normAutofit/>
          </a:bodyPr>
          <a:lstStyle>
            <a:lvl1pPr marL="4572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sz="1800"/>
            </a:lvl1pPr>
            <a:lvl2pPr marL="9144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eriod"/>
              <a:defRPr sz="1800"/>
            </a:lvl2pPr>
            <a:lvl3pPr marL="13716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arenR"/>
              <a:defRPr sz="1800"/>
            </a:lvl3pPr>
            <a:lvl4pPr marL="18288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arenR"/>
              <a:defRPr sz="1800"/>
            </a:lvl4pPr>
            <a:lvl5pPr marL="2228850" indent="-457200">
              <a:spcBef>
                <a:spcPts val="1000"/>
              </a:spcBef>
              <a:spcAft>
                <a:spcPts val="500"/>
              </a:spcAft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BEE7174-135F-6F9F-11B9-3C3F2F9CDEA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65539" y="2087315"/>
            <a:ext cx="6007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464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680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45A11E-9896-BD8B-8CC6-A79C124D8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86022B-53D6-6CE0-2093-873FC64A5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D4BD8F-684C-A145-3376-9E69B0E5B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7C1DA9-2A25-EE21-085B-8857DC1AD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236BB3-E567-A8A9-5EC2-BCEF79CFC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A87C9F-C765-C63C-951E-70721DDAC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425665-0C9C-3899-9DB9-ED05D91E2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33040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137059"/>
            <a:ext cx="2816352" cy="398624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09014" y="2137059"/>
            <a:ext cx="7059592" cy="398624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dirty="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227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9C8ABD-000F-7A94-A7B0-9589F4FEF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C3A554-E5A9-B3CB-913D-45DBFBA79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3A8DF3-F55A-2494-C55D-8FB94BBC6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9DC86E-6F8A-B036-5CB2-AA8A79837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9E0C03-C633-9356-4E28-678BAB7A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C8A4F7-6C4C-719B-298F-3B81223D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7E5D8B-D6BC-19AE-C0C9-249A55617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A6C5266-7ECA-B150-2C0F-8670F43AC82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8200" y="1987669"/>
            <a:ext cx="6974711" cy="429767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800"/>
            </a:lvl2pPr>
            <a:lvl3pPr>
              <a:spcBef>
                <a:spcPts val="1000"/>
              </a:spcBef>
              <a:spcAft>
                <a:spcPts val="500"/>
              </a:spcAft>
              <a:defRPr sz="1800"/>
            </a:lvl3pPr>
            <a:lvl4pPr>
              <a:spcBef>
                <a:spcPts val="1000"/>
              </a:spcBef>
              <a:spcAft>
                <a:spcPts val="500"/>
              </a:spcAft>
              <a:defRPr sz="1800"/>
            </a:lvl4pPr>
            <a:lvl5pPr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17085" y="1987670"/>
            <a:ext cx="343671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899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7588714-FE55-FCEF-78C2-2A4D11ECD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F6BF02-4CD8-261B-BE58-05677EB94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AF1F17-7A1F-BCA2-15C0-417928B4E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0ADE0B-D150-E72B-EE9A-E5EFDBC6F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BCDD5A-A3C4-DF4F-74AD-CAF0F465B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430AE4-C878-DFAB-EDA5-36B97176D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1487B2-0348-2FFC-03FB-6508B6FD3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2125262"/>
            <a:ext cx="10515600" cy="3675944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842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5396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  <p:sldLayoutId id="2147483688" r:id="rId21"/>
    <p:sldLayoutId id="2147483689" r:id="rId22"/>
    <p:sldLayoutId id="2147483690" r:id="rId23"/>
    <p:sldLayoutId id="2147483691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</a:t>
            </a:r>
            <a:br>
              <a:rPr lang="en-US" dirty="0"/>
            </a:br>
            <a:r>
              <a:rPr lang="en-US" dirty="0"/>
              <a:t>PRESENTATION</a:t>
            </a:r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  <p:pic>
        <p:nvPicPr>
          <p:cNvPr id="25" name="Picture Placeholder 6" descr="A city skyline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/>
      </p:pic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4D6EE8D1-247A-B95F-BD1A-A2D76964CF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OVERCOMING NERVOUSNESS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 anchor="t"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43" name="Picture Placeholder 42" descr="A plane flying over a city">
            <a:extLst>
              <a:ext uri="{FF2B5EF4-FFF2-40B4-BE49-F238E27FC236}">
                <a16:creationId xmlns:a16="http://schemas.microsoft.com/office/drawing/2014/main" id="{9100BC91-12A3-DE75-3F38-9C17D39DC5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" r="39"/>
          <a:stretch/>
        </p:blipFill>
        <p:spPr/>
      </p:pic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/>
              <a:t>ENGAGING THE AUDIENCE</a:t>
            </a:r>
            <a:endParaRPr lang="en-US" dirty="0"/>
          </a:p>
        </p:txBody>
      </p:sp>
      <p:pic>
        <p:nvPicPr>
          <p:cNvPr id="24" name="Picture Placeholder 7" descr="Looking up view of tall buildings">
            <a:extLst>
              <a:ext uri="{FF2B5EF4-FFF2-40B4-BE49-F238E27FC236}">
                <a16:creationId xmlns:a16="http://schemas.microsoft.com/office/drawing/2014/main" id="{A672B903-78EE-718A-C122-69D5120788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" b="61"/>
          <a:stretch/>
        </p:blipFill>
        <p:spPr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/>
          <a:lstStyle/>
          <a:p>
            <a:r>
              <a:rPr lang="en-US"/>
              <a:t>SELECTING VISUAL AIDS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02BFD-960F-CBB3-E984-CDC12813A10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/>
              <a:t>Know your material in advance</a:t>
            </a:r>
          </a:p>
          <a:p>
            <a:r>
              <a:rPr lang="en-US"/>
              <a:t>Anticipate common questions</a:t>
            </a:r>
          </a:p>
          <a:p>
            <a:r>
              <a:rPr lang="en-US"/>
              <a:t>Rehearse your responses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/>
              <a:t>Stay calm</a:t>
            </a:r>
          </a:p>
          <a:p>
            <a:pPr lvl="1"/>
            <a:r>
              <a:rPr lang="en-US"/>
              <a:t>Actively listen</a:t>
            </a:r>
          </a:p>
          <a:p>
            <a:pPr lvl="1"/>
            <a:r>
              <a:rPr lang="en-US"/>
              <a:t>Pause and reflect</a:t>
            </a:r>
          </a:p>
          <a:p>
            <a:pPr lvl="1"/>
            <a:r>
              <a:rPr lang="en-US"/>
              <a:t>Maintain eye contact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Your ability to communicate effectively </a:t>
            </a:r>
            <a:br>
              <a:rPr lang="en-US" dirty="0"/>
            </a:br>
            <a:r>
              <a:rPr lang="en-US" dirty="0"/>
              <a:t>will leave a lasting impact on your </a:t>
            </a:r>
            <a:br>
              <a:rPr lang="en-US" dirty="0"/>
            </a:br>
            <a:r>
              <a:rPr lang="en-US" dirty="0"/>
              <a:t>audience</a:t>
            </a:r>
          </a:p>
          <a:p>
            <a:r>
              <a:rPr lang="en-US" dirty="0"/>
              <a:t>Effectively communicating involves not </a:t>
            </a:r>
            <a:br>
              <a:rPr lang="en-US" dirty="0"/>
            </a:br>
            <a:r>
              <a:rPr lang="en-US" dirty="0"/>
              <a:t>only delivering a message but also </a:t>
            </a:r>
            <a:br>
              <a:rPr lang="en-US" dirty="0"/>
            </a:br>
            <a:r>
              <a:rPr lang="en-US" dirty="0"/>
              <a:t>resonating with the experiences, values, </a:t>
            </a:r>
            <a:br>
              <a:rPr lang="en-US" dirty="0"/>
            </a:br>
            <a:r>
              <a:rPr lang="en-US" dirty="0"/>
              <a:t>and emotions of those listening </a:t>
            </a:r>
          </a:p>
        </p:txBody>
      </p:sp>
      <p:pic>
        <p:nvPicPr>
          <p:cNvPr id="20" name="Picture Placeholder 19" descr="City lights at night">
            <a:extLst>
              <a:ext uri="{FF2B5EF4-FFF2-40B4-BE49-F238E27FC236}">
                <a16:creationId xmlns:a16="http://schemas.microsoft.com/office/drawing/2014/main" id="{E5D7764F-CE06-1A00-3555-ACAE6ACDFE1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/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DYNAMIC DELIVERY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3" name="Table Placeholder 2">
            <a:extLst>
              <a:ext uri="{FF2B5EF4-FFF2-40B4-BE49-F238E27FC236}">
                <a16:creationId xmlns:a16="http://schemas.microsoft.com/office/drawing/2014/main" id="{F01CF5D3-D3B1-1944-CFDF-D8EE11DE42AA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132532233"/>
              </p:ext>
            </p:extLst>
          </p:nvPr>
        </p:nvGraphicFramePr>
        <p:xfrm>
          <a:off x="4108450" y="2136775"/>
          <a:ext cx="7059592" cy="3872023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76489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764898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764898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764898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11525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832813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Consistent rehearsal</a:t>
            </a:r>
          </a:p>
          <a:p>
            <a:pPr lvl="1"/>
            <a:r>
              <a:rPr lang="en-US"/>
              <a:t>Strengthen your familiarity</a:t>
            </a:r>
          </a:p>
          <a:p>
            <a:r>
              <a:rPr lang="en-US"/>
              <a:t>Refine delivery style</a:t>
            </a:r>
          </a:p>
          <a:p>
            <a:pPr lvl="1"/>
            <a:r>
              <a:rPr lang="en-US"/>
              <a:t>Pacing, tone, and emphasis</a:t>
            </a:r>
          </a:p>
          <a:p>
            <a:r>
              <a:rPr lang="en-US"/>
              <a:t>Timing and transitions</a:t>
            </a:r>
          </a:p>
          <a:p>
            <a:pPr lvl="1"/>
            <a:r>
              <a:rPr lang="en-US"/>
              <a:t>Aim for seamless, professional delivery</a:t>
            </a:r>
          </a:p>
          <a:p>
            <a:r>
              <a:rPr lang="en-US"/>
              <a:t>Practice audience</a:t>
            </a:r>
          </a:p>
          <a:p>
            <a:pPr lvl="1"/>
            <a:r>
              <a:rPr lang="en-US"/>
              <a:t>Enlist colleagues to listen &amp; provide feedback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/>
              <a:t>Seek feedback</a:t>
            </a:r>
          </a:p>
          <a:p>
            <a:r>
              <a:rPr lang="en-US"/>
              <a:t>Reflect on performance</a:t>
            </a:r>
          </a:p>
          <a:p>
            <a:r>
              <a:rPr lang="en-US"/>
              <a:t>Explore new techniques</a:t>
            </a:r>
          </a:p>
          <a:p>
            <a:r>
              <a:rPr lang="en-US"/>
              <a:t>Set personal goals</a:t>
            </a:r>
          </a:p>
          <a:p>
            <a:r>
              <a:rPr lang="en-US"/>
              <a:t>Iterate and adapt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19" name="Table Placeholder 3">
            <a:extLst>
              <a:ext uri="{FF2B5EF4-FFF2-40B4-BE49-F238E27FC236}">
                <a16:creationId xmlns:a16="http://schemas.microsoft.com/office/drawing/2014/main" id="{998759BF-36E2-2AC0-C9B8-88C6BF075154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98846581"/>
              </p:ext>
            </p:extLst>
          </p:nvPr>
        </p:nvGraphicFramePr>
        <p:xfrm>
          <a:off x="838200" y="2125663"/>
          <a:ext cx="10515600" cy="3627358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59894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59894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59894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15787"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59894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615787"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anchor="t">
            <a:normAutofit/>
          </a:bodyPr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{10729E9C-7038-4EF1-8EBC-1644A60765D2}tf22797433_win32</Template>
  <TotalTime>0</TotalTime>
  <Words>428</Words>
  <Application>Microsoft Office PowerPoint</Application>
  <PresentationFormat>Widescreen</PresentationFormat>
  <Paragraphs>123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Univers Condensed Light</vt:lpstr>
      <vt:lpstr>Walbaum Display Light</vt:lpstr>
      <vt:lpstr>AngleLinesVTI</vt:lpstr>
      <vt:lpstr>BASIC  PRESENTATION</vt:lpstr>
      <vt:lpstr>AGENDA</vt:lpstr>
      <vt:lpstr>THE POWER OF COMMUNICATION</vt:lpstr>
      <vt:lpstr>OVERCOMING NERVOUSNESS</vt:lpstr>
      <vt:lpstr>ENGAGING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Tony Koop</dc:creator>
  <cp:lastModifiedBy>Tony Koop</cp:lastModifiedBy>
  <cp:revision>1</cp:revision>
  <dcterms:created xsi:type="dcterms:W3CDTF">2026-04-26T19:09:08Z</dcterms:created>
  <dcterms:modified xsi:type="dcterms:W3CDTF">2026-04-26T19:09:51Z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